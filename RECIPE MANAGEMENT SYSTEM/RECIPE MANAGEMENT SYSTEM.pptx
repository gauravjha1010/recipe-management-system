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716F3-B0DD-3346-CC76-D91EF4FD8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FDDE7-FB82-D361-35C1-FB12F3E84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CB0B7-A5A6-3C72-BE23-0CAE7E58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CCAA-5D7B-4CDB-B3E5-1749C41687B6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CFDAD-1D62-4273-FA54-94A82376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98715-7798-5ACE-352B-4269311C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4CB9-CC4A-4AB6-9441-1103BD80D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10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4876-BCA5-48BB-5C87-E2EF5D38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C4360-3A6E-8FE5-A22A-7CB18F6CE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24414-59A1-B024-B9AE-80E66295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CCAA-5D7B-4CDB-B3E5-1749C41687B6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8905B-1D8A-36BC-F23D-963EECBF2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EC2E-C2B7-FAA7-33C7-A3DA9D014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4CB9-CC4A-4AB6-9441-1103BD80D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966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5145-029A-69EB-6566-51B3B827B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051D-4229-E902-2FCC-84EA569D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FB380-099B-ECE9-DEEB-A4790AB8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CCAA-5D7B-4CDB-B3E5-1749C41687B6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C9779-B94A-6139-D085-2F8442CFF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D5F7A-E0F4-B82E-E6E9-65DAD110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4CB9-CC4A-4AB6-9441-1103BD80D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822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B129-B879-3EC0-121F-7FD39354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6FA6-87C7-2AFC-75CE-5727E45985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31719-CE3A-8D4E-9E74-962EF9C3C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725E0-5E16-CB6C-5AB4-5888C529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CCAA-5D7B-4CDB-B3E5-1749C41687B6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6D4A5-FE09-BE23-94F9-2626D831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10523-CB30-D230-A200-AF82FC07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4CB9-CC4A-4AB6-9441-1103BD80D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080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8C42F-DBB0-5774-8C67-89F853AE5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825F2-7744-3926-8158-EBDAAFFE0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EC1ED-3F24-9089-D858-A63B0A79A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C4BBD2-2DF8-5ABF-6552-B6CD08905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CF93A5-6391-4B08-B2E3-0CA1E0BE6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311CC3-0F08-130D-80BB-9736D8CC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CCAA-5D7B-4CDB-B3E5-1749C41687B6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3A37A2-A8C2-C0E4-56B6-C9DD6F7FB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3C11E9-25D7-38AF-B974-36403B7A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4CB9-CC4A-4AB6-9441-1103BD80D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749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C85A8-CEF5-838C-7FE0-F5E274D4F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81380-023F-9341-A050-D6C20F6DC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CCAA-5D7B-4CDB-B3E5-1749C41687B6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7A76BB-0CF7-8425-CB51-EB68E889C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7DC5B-F61E-30FA-2CEA-530AFD6D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4CB9-CC4A-4AB6-9441-1103BD80D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483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74CAFF-DFBA-0DE2-DFB6-58F3325A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CCAA-5D7B-4CDB-B3E5-1749C41687B6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B7D8F-5842-29E1-5F84-909FACBAD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3292D-D255-704F-E981-1A4A3AB29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4CB9-CC4A-4AB6-9441-1103BD80D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728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46E0-E0A8-298E-2F6C-4CE5F9ECE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F95D9-7026-484A-3B72-CDD6FE997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97EC5-4729-1108-A82A-3489C2702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26498-0A49-1621-6D9D-20AE5CF9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CCAA-5D7B-4CDB-B3E5-1749C41687B6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DF342-1BE7-CA03-A4CC-DD688034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6B26E-F115-256A-5286-3A3AA595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4CB9-CC4A-4AB6-9441-1103BD80D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598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2EAD-E0E7-D09D-900D-A93ACEB70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9887B8-CC16-9F8D-97DB-BCB0ECD7FA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26E16-6953-C4B7-A868-CF5874DBF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7BC79-ABF1-56E7-E510-F393BE3D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CCAA-5D7B-4CDB-B3E5-1749C41687B6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1D89E-935E-7027-7D18-05E38C15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5EC6-4ABC-580C-A530-582FCECC5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4CB9-CC4A-4AB6-9441-1103BD80D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97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59FF1-1450-9DD7-9D34-F0D5DB71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93F9F-F0FA-3E70-3AF7-39AE90135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66AE5-6111-9432-AA92-51AA835AA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CCAA-5D7B-4CDB-B3E5-1749C41687B6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338C6-B224-3F82-51D4-A4DC24234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75BB3-A88F-E616-C048-449180E6C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4CB9-CC4A-4AB6-9441-1103BD80D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42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138E5-963D-6F70-B307-FEF8EB583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2E7FC-B4FE-ECB3-3B7C-D2567C55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987EF-D8E1-71C6-8A6D-9446B9DAE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0CCAA-5D7B-4CDB-B3E5-1749C41687B6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FBDCB-E223-35F6-5BB1-838FD1C9F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F1F92-0483-BFC0-053F-F6D6597D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4CB9-CC4A-4AB6-9441-1103BD80D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50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A09058-F2A0-CC2A-47EA-EF080FDB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826E5-D7C9-3494-CB36-E23BFF2D8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37E22-6901-C105-89D2-AE8FF090E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0CCAA-5D7B-4CDB-B3E5-1749C41687B6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26268-9315-7CFE-0283-0ABCAEFC6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1DA44-267C-309A-A6D1-2289AEFE1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64CB9-CC4A-4AB6-9441-1103BD80D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55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1AF6-99DA-28D5-F865-5302F8938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6968" y="957771"/>
            <a:ext cx="10165080" cy="1447101"/>
          </a:xfrm>
        </p:spPr>
        <p:txBody>
          <a:bodyPr>
            <a:normAutofit fontScale="90000"/>
          </a:bodyPr>
          <a:lstStyle/>
          <a:p>
            <a:pPr algn="r"/>
            <a:r>
              <a:rPr lang="en-IN" dirty="0"/>
              <a:t> </a:t>
            </a:r>
            <a:r>
              <a:rPr lang="en-IN" dirty="0">
                <a:latin typeface="Algerian" panose="04020705040A02060702" pitchFamily="82" charset="0"/>
              </a:rPr>
              <a:t>RECIPE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6E689-B50D-453A-6AFE-ADF1AA2722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2168" y="2569464"/>
            <a:ext cx="3407664" cy="430466"/>
          </a:xfrm>
        </p:spPr>
        <p:txBody>
          <a:bodyPr/>
          <a:lstStyle/>
          <a:p>
            <a:r>
              <a:rPr lang="en-IN" dirty="0"/>
              <a:t>For milling operation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50A1FF-F60E-33A5-532E-911CCF363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792" y="5258498"/>
            <a:ext cx="377952" cy="3438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73A946-E7B7-33CF-12F6-7A43BFE350EF}"/>
              </a:ext>
            </a:extLst>
          </p:cNvPr>
          <p:cNvSpPr txBox="1"/>
          <p:nvPr/>
        </p:nvSpPr>
        <p:spPr>
          <a:xfrm>
            <a:off x="4200144" y="5239512"/>
            <a:ext cx="340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Presenter &gt; GAURAV KUMAR JHA</a:t>
            </a:r>
          </a:p>
        </p:txBody>
      </p:sp>
    </p:spTree>
    <p:extLst>
      <p:ext uri="{BB962C8B-B14F-4D97-AF65-F5344CB8AC3E}">
        <p14:creationId xmlns:p14="http://schemas.microsoft.com/office/powerpoint/2010/main" val="1938300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294E-75FD-106C-F9A9-3BA20A7B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Project Vision 		     Core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21675-ACC1-1588-64AA-01324EEFE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5592" y="3188716"/>
            <a:ext cx="5181600" cy="2261743"/>
          </a:xfrm>
        </p:spPr>
        <p:txBody>
          <a:bodyPr/>
          <a:lstStyle/>
          <a:p>
            <a:r>
              <a:rPr lang="en-IN" dirty="0"/>
              <a:t>To implement robust, secure and user-friendly recipe management system to eliminate errors in recipe handling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CE25C-4027-FCBD-AEE4-0D1823AB0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1968" y="3188716"/>
            <a:ext cx="5181600" cy="4351338"/>
          </a:xfrm>
        </p:spPr>
        <p:txBody>
          <a:bodyPr/>
          <a:lstStyle/>
          <a:p>
            <a:r>
              <a:rPr lang="en-IN" dirty="0"/>
              <a:t>Develop a zero-error system for validating and approving recipe with strict access and audit control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082F04-B517-D250-2FC6-1FB478397B94}"/>
              </a:ext>
            </a:extLst>
          </p:cNvPr>
          <p:cNvCxnSpPr/>
          <p:nvPr/>
        </p:nvCxnSpPr>
        <p:spPr>
          <a:xfrm>
            <a:off x="838200" y="1371600"/>
            <a:ext cx="10515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CFC15FF-98B7-2DD9-74ED-61B5886AB8C2}"/>
              </a:ext>
            </a:extLst>
          </p:cNvPr>
          <p:cNvSpPr/>
          <p:nvPr/>
        </p:nvSpPr>
        <p:spPr>
          <a:xfrm>
            <a:off x="2999232" y="1906047"/>
            <a:ext cx="420624" cy="74822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FE905CC5-CD86-5C7E-D9C9-1F60903370D7}"/>
              </a:ext>
            </a:extLst>
          </p:cNvPr>
          <p:cNvSpPr/>
          <p:nvPr/>
        </p:nvSpPr>
        <p:spPr>
          <a:xfrm>
            <a:off x="8683752" y="1906048"/>
            <a:ext cx="420624" cy="74822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186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A3A5-D2F5-16EB-21B9-EA2E00C85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 Phases</a:t>
            </a:r>
            <a:r>
              <a:rPr lang="en-IN" dirty="0"/>
              <a:t>: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5982F9-00A3-F017-E1A9-FDAD221B8C09}"/>
              </a:ext>
            </a:extLst>
          </p:cNvPr>
          <p:cNvCxnSpPr/>
          <p:nvPr/>
        </p:nvCxnSpPr>
        <p:spPr>
          <a:xfrm>
            <a:off x="978408" y="1417320"/>
            <a:ext cx="320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80EF9CD-736A-0B84-8A60-F2A4B9D7FD00}"/>
              </a:ext>
            </a:extLst>
          </p:cNvPr>
          <p:cNvSpPr txBox="1"/>
          <p:nvPr/>
        </p:nvSpPr>
        <p:spPr>
          <a:xfrm>
            <a:off x="4617720" y="766296"/>
            <a:ext cx="3410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PHASE BREAKDOWN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EF1FFA-6174-1F03-8AD5-C2403DC5CA79}"/>
              </a:ext>
            </a:extLst>
          </p:cNvPr>
          <p:cNvCxnSpPr>
            <a:cxnSpLocks/>
          </p:cNvCxnSpPr>
          <p:nvPr/>
        </p:nvCxnSpPr>
        <p:spPr>
          <a:xfrm>
            <a:off x="329184" y="3849624"/>
            <a:ext cx="10222992" cy="6225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1A9D917D-8562-43AD-8FA9-1DCBC42FFCD6}"/>
              </a:ext>
            </a:extLst>
          </p:cNvPr>
          <p:cNvSpPr/>
          <p:nvPr/>
        </p:nvSpPr>
        <p:spPr>
          <a:xfrm>
            <a:off x="681228" y="3593592"/>
            <a:ext cx="594360" cy="51206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01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CBD09C9E-6130-0B01-7B6D-AA66A7B444B5}"/>
              </a:ext>
            </a:extLst>
          </p:cNvPr>
          <p:cNvSpPr/>
          <p:nvPr/>
        </p:nvSpPr>
        <p:spPr>
          <a:xfrm>
            <a:off x="2709672" y="3602736"/>
            <a:ext cx="594360" cy="51206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02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5CD5AD5E-628E-BB27-DF25-9439D589B39B}"/>
              </a:ext>
            </a:extLst>
          </p:cNvPr>
          <p:cNvSpPr/>
          <p:nvPr/>
        </p:nvSpPr>
        <p:spPr>
          <a:xfrm>
            <a:off x="6890766" y="3593592"/>
            <a:ext cx="594360" cy="51206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04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BB4064DD-BE1D-2F15-34DF-AA8D0938262B}"/>
              </a:ext>
            </a:extLst>
          </p:cNvPr>
          <p:cNvSpPr/>
          <p:nvPr/>
        </p:nvSpPr>
        <p:spPr>
          <a:xfrm>
            <a:off x="4779264" y="3611880"/>
            <a:ext cx="594360" cy="51206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03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5F5F2B41-50D4-CB5B-7553-9AB81C1A4AD9}"/>
              </a:ext>
            </a:extLst>
          </p:cNvPr>
          <p:cNvSpPr/>
          <p:nvPr/>
        </p:nvSpPr>
        <p:spPr>
          <a:xfrm>
            <a:off x="9474137" y="3655849"/>
            <a:ext cx="594360" cy="51206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9E6F9D5-26BB-8FC1-25F1-05EA47810500}"/>
              </a:ext>
            </a:extLst>
          </p:cNvPr>
          <p:cNvSpPr/>
          <p:nvPr/>
        </p:nvSpPr>
        <p:spPr>
          <a:xfrm>
            <a:off x="960882" y="1654002"/>
            <a:ext cx="2346960" cy="3474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/>
              <a:t>PLANNING &amp; DESIGN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CDA9B98-CA14-7B3C-352A-027BFBF4EB28}"/>
              </a:ext>
            </a:extLst>
          </p:cNvPr>
          <p:cNvSpPr/>
          <p:nvPr/>
        </p:nvSpPr>
        <p:spPr>
          <a:xfrm>
            <a:off x="5139690" y="1652812"/>
            <a:ext cx="2779776" cy="3481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/>
              <a:t>FRONTEND DEVELOPMENT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003CC60-AE2F-A83D-541A-3CFA7EE15C00}"/>
              </a:ext>
            </a:extLst>
          </p:cNvPr>
          <p:cNvSpPr/>
          <p:nvPr/>
        </p:nvSpPr>
        <p:spPr>
          <a:xfrm>
            <a:off x="9956673" y="1652940"/>
            <a:ext cx="1545717" cy="338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/>
              <a:t>DEPLOYMENT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A9DFAC8-878E-5A57-622D-CE630BE3CA5B}"/>
              </a:ext>
            </a:extLst>
          </p:cNvPr>
          <p:cNvSpPr/>
          <p:nvPr/>
        </p:nvSpPr>
        <p:spPr>
          <a:xfrm>
            <a:off x="5508498" y="4632605"/>
            <a:ext cx="1679448" cy="347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/>
              <a:t>TESTING &amp; QA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15A0A98-4110-0F94-1DD7-F20F63004DE6}"/>
              </a:ext>
            </a:extLst>
          </p:cNvPr>
          <p:cNvSpPr/>
          <p:nvPr/>
        </p:nvSpPr>
        <p:spPr>
          <a:xfrm>
            <a:off x="172593" y="4606835"/>
            <a:ext cx="2634234" cy="347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/>
              <a:t>BACKEND DEVELOPMENT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A0F8C05-973B-E015-4D2D-2ED249F739FA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593598" y="1823275"/>
            <a:ext cx="384810" cy="177031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B38DDCC-4C9E-87BA-08C1-C0AC0884DE8E}"/>
              </a:ext>
            </a:extLst>
          </p:cNvPr>
          <p:cNvCxnSpPr>
            <a:endCxn id="17" idx="1"/>
          </p:cNvCxnSpPr>
          <p:nvPr/>
        </p:nvCxnSpPr>
        <p:spPr>
          <a:xfrm>
            <a:off x="607314" y="1827738"/>
            <a:ext cx="3535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10CB42C-A727-7730-26F8-992BACB86DA7}"/>
              </a:ext>
            </a:extLst>
          </p:cNvPr>
          <p:cNvCxnSpPr>
            <a:cxnSpLocks/>
          </p:cNvCxnSpPr>
          <p:nvPr/>
        </p:nvCxnSpPr>
        <p:spPr>
          <a:xfrm flipH="1" flipV="1">
            <a:off x="3006852" y="4123944"/>
            <a:ext cx="255270" cy="65661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2B04D3F-7A6C-7269-C252-95F26B65AF5B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2806827" y="4780563"/>
            <a:ext cx="4552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5A48706-277C-A7E1-6A57-66E2A2255103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4638675" y="1811845"/>
            <a:ext cx="437769" cy="180003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C178FC7-150A-ADEE-D098-5A672CF8A572}"/>
              </a:ext>
            </a:extLst>
          </p:cNvPr>
          <p:cNvCxnSpPr>
            <a:cxnSpLocks/>
          </p:cNvCxnSpPr>
          <p:nvPr/>
        </p:nvCxnSpPr>
        <p:spPr>
          <a:xfrm>
            <a:off x="4642485" y="1818704"/>
            <a:ext cx="4880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2154E1F-DD2C-BE10-DA76-EDD9141E7E6D}"/>
              </a:ext>
            </a:extLst>
          </p:cNvPr>
          <p:cNvCxnSpPr>
            <a:stCxn id="13" idx="4"/>
          </p:cNvCxnSpPr>
          <p:nvPr/>
        </p:nvCxnSpPr>
        <p:spPr>
          <a:xfrm>
            <a:off x="7187946" y="4105656"/>
            <a:ext cx="374142" cy="70068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CECB3DE-489B-E01B-175D-EFD5A4E01882}"/>
              </a:ext>
            </a:extLst>
          </p:cNvPr>
          <p:cNvCxnSpPr>
            <a:endCxn id="21" idx="3"/>
          </p:cNvCxnSpPr>
          <p:nvPr/>
        </p:nvCxnSpPr>
        <p:spPr>
          <a:xfrm flipH="1">
            <a:off x="7187946" y="4806340"/>
            <a:ext cx="374142" cy="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76D6FFF-C412-45CB-DAB2-AE9EEE946E7C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9288970" y="1811845"/>
            <a:ext cx="482347" cy="18440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1D2FBC8-F774-4096-35D7-EF4CBB1E9C7F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9288970" y="1822155"/>
            <a:ext cx="66770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15DDD04-98C5-2C17-893D-E9C282CB6E42}"/>
              </a:ext>
            </a:extLst>
          </p:cNvPr>
          <p:cNvSpPr txBox="1"/>
          <p:nvPr/>
        </p:nvSpPr>
        <p:spPr>
          <a:xfrm>
            <a:off x="978408" y="2011307"/>
            <a:ext cx="2511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Finalize requirement, UI/UX design, and CSV structure.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B6676D-3879-5625-01FF-9C7F123E8C03}"/>
              </a:ext>
            </a:extLst>
          </p:cNvPr>
          <p:cNvSpPr txBox="1"/>
          <p:nvPr/>
        </p:nvSpPr>
        <p:spPr>
          <a:xfrm>
            <a:off x="10137076" y="2030070"/>
            <a:ext cx="1903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Deploy the functional prototype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7EF0EA-8C59-0701-88F6-811700DF8573}"/>
              </a:ext>
            </a:extLst>
          </p:cNvPr>
          <p:cNvSpPr txBox="1"/>
          <p:nvPr/>
        </p:nvSpPr>
        <p:spPr>
          <a:xfrm>
            <a:off x="5455158" y="5015830"/>
            <a:ext cx="2511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Conduct unit and integration testing, followed by User Acceptance Testing.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F2DB39-6970-13B1-CC19-AE7167536033}"/>
              </a:ext>
            </a:extLst>
          </p:cNvPr>
          <p:cNvSpPr txBox="1"/>
          <p:nvPr/>
        </p:nvSpPr>
        <p:spPr>
          <a:xfrm>
            <a:off x="295275" y="4963063"/>
            <a:ext cx="2511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Set up project structure, develop CSV modules, and implement authentication.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FDE29C-B13E-F535-19EA-9CEA4C1C2648}"/>
              </a:ext>
            </a:extLst>
          </p:cNvPr>
          <p:cNvSpPr txBox="1"/>
          <p:nvPr/>
        </p:nvSpPr>
        <p:spPr>
          <a:xfrm>
            <a:off x="5321808" y="2017259"/>
            <a:ext cx="2511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Create recipe editor UI, integrate backend functionality, and develop login interface.</a:t>
            </a:r>
          </a:p>
        </p:txBody>
      </p:sp>
    </p:spTree>
    <p:extLst>
      <p:ext uri="{BB962C8B-B14F-4D97-AF65-F5344CB8AC3E}">
        <p14:creationId xmlns:p14="http://schemas.microsoft.com/office/powerpoint/2010/main" val="2346051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3BC31-448F-1265-0E55-4085FB541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259548"/>
            <a:ext cx="10515600" cy="1325563"/>
          </a:xfrm>
        </p:spPr>
        <p:txBody>
          <a:bodyPr/>
          <a:lstStyle/>
          <a:p>
            <a:r>
              <a:rPr lang="en-IN" dirty="0"/>
              <a:t>Core System Requirement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B81C38-DEFE-B74E-7CDE-6B43FE0B98E6}"/>
              </a:ext>
            </a:extLst>
          </p:cNvPr>
          <p:cNvCxnSpPr/>
          <p:nvPr/>
        </p:nvCxnSpPr>
        <p:spPr>
          <a:xfrm>
            <a:off x="1005840" y="1344168"/>
            <a:ext cx="56692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87DFBBE-9136-3D2E-7FDA-B137E22AEDA8}"/>
              </a:ext>
            </a:extLst>
          </p:cNvPr>
          <p:cNvSpPr/>
          <p:nvPr/>
        </p:nvSpPr>
        <p:spPr>
          <a:xfrm>
            <a:off x="838200" y="1690688"/>
            <a:ext cx="3294888" cy="21772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u="sng" dirty="0"/>
              <a:t>RECIPE STRUCTURE</a:t>
            </a:r>
          </a:p>
          <a:p>
            <a:pPr algn="ctr"/>
            <a:endParaRPr lang="en-IN" u="sng" dirty="0"/>
          </a:p>
          <a:p>
            <a:pPr algn="ctr"/>
            <a:r>
              <a:rPr lang="en-IN" dirty="0"/>
              <a:t>Features 50 columns with configurable limits and 100 rows conditions from operational steps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D66A4C-A51D-2574-E8EF-A428CCFE58E2}"/>
              </a:ext>
            </a:extLst>
          </p:cNvPr>
          <p:cNvSpPr/>
          <p:nvPr/>
        </p:nvSpPr>
        <p:spPr>
          <a:xfrm>
            <a:off x="1656207" y="4336050"/>
            <a:ext cx="3294888" cy="21772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u="sng" dirty="0"/>
          </a:p>
          <a:p>
            <a:pPr algn="ctr"/>
            <a:r>
              <a:rPr lang="en-IN" dirty="0"/>
              <a:t>Implement a multi-level approval system for recipe submission and validation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1FDA71-B131-6613-9D10-7D8435871A78}"/>
              </a:ext>
            </a:extLst>
          </p:cNvPr>
          <p:cNvSpPr txBox="1"/>
          <p:nvPr/>
        </p:nvSpPr>
        <p:spPr>
          <a:xfrm>
            <a:off x="266891" y="460440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u="sng" dirty="0"/>
              <a:t>APPROVAL WORKFLOW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A0D7149-1591-134C-DAC6-5EA2F7791E6A}"/>
              </a:ext>
            </a:extLst>
          </p:cNvPr>
          <p:cNvSpPr/>
          <p:nvPr/>
        </p:nvSpPr>
        <p:spPr>
          <a:xfrm>
            <a:off x="6056376" y="4336050"/>
            <a:ext cx="3294888" cy="21772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u="sn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CA5D4-3734-1F7B-6392-F7F30E99EC12}"/>
              </a:ext>
            </a:extLst>
          </p:cNvPr>
          <p:cNvSpPr txBox="1"/>
          <p:nvPr/>
        </p:nvSpPr>
        <p:spPr>
          <a:xfrm>
            <a:off x="6986587" y="4373569"/>
            <a:ext cx="249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INTERLOCKS &amp; VALIDATION</a:t>
            </a:r>
          </a:p>
          <a:p>
            <a:endParaRPr lang="en-IN" u="sng" dirty="0"/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769858-8304-3B56-AC13-449584E6A0CF}"/>
              </a:ext>
            </a:extLst>
          </p:cNvPr>
          <p:cNvSpPr txBox="1"/>
          <p:nvPr/>
        </p:nvSpPr>
        <p:spPr>
          <a:xfrm>
            <a:off x="6492240" y="4973734"/>
            <a:ext cx="26609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Enforce row-cell validation and conditional save rules to maintain recipe integrity</a:t>
            </a:r>
          </a:p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08BA651-4C6C-F857-5F47-44FBF753C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2" y="1690688"/>
            <a:ext cx="6864876" cy="2177224"/>
          </a:xfrm>
          <a:prstGeom prst="rect">
            <a:avLst/>
          </a:prstGeom>
        </p:spPr>
      </p:pic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89DAF6A1-32F0-9EA8-C33A-2D237D761CC7}"/>
              </a:ext>
            </a:extLst>
          </p:cNvPr>
          <p:cNvSpPr/>
          <p:nvPr/>
        </p:nvSpPr>
        <p:spPr>
          <a:xfrm>
            <a:off x="4359592" y="2576814"/>
            <a:ext cx="516255" cy="566928"/>
          </a:xfrm>
          <a:prstGeom prst="chevr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37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5878-F221-5500-A5A0-29217707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Detailed Feature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16789-2076-07F6-EAA9-BD31792BDCDF}"/>
              </a:ext>
            </a:extLst>
          </p:cNvPr>
          <p:cNvCxnSpPr/>
          <p:nvPr/>
        </p:nvCxnSpPr>
        <p:spPr>
          <a:xfrm>
            <a:off x="969264" y="1325880"/>
            <a:ext cx="36210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F819FB-8391-C5A6-1107-808339E76DAA}"/>
              </a:ext>
            </a:extLst>
          </p:cNvPr>
          <p:cNvCxnSpPr>
            <a:cxnSpLocks/>
          </p:cNvCxnSpPr>
          <p:nvPr/>
        </p:nvCxnSpPr>
        <p:spPr>
          <a:xfrm>
            <a:off x="365760" y="3877056"/>
            <a:ext cx="1160830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1C7DBC-680A-DAE0-08E2-48D2EAE0624C}"/>
              </a:ext>
            </a:extLst>
          </p:cNvPr>
          <p:cNvSpPr/>
          <p:nvPr/>
        </p:nvSpPr>
        <p:spPr>
          <a:xfrm>
            <a:off x="585216" y="1557990"/>
            <a:ext cx="3895344" cy="4480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INTERLOCKS &amp; REAL-TIME VALIDATION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71633AC-C1FB-96B8-7FE6-FB30DF3B00ED}"/>
              </a:ext>
            </a:extLst>
          </p:cNvPr>
          <p:cNvSpPr/>
          <p:nvPr/>
        </p:nvSpPr>
        <p:spPr>
          <a:xfrm>
            <a:off x="5675376" y="3579881"/>
            <a:ext cx="716280" cy="59434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02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3957B5E-2ABF-B506-512A-4F7D9F7A2531}"/>
              </a:ext>
            </a:extLst>
          </p:cNvPr>
          <p:cNvSpPr/>
          <p:nvPr/>
        </p:nvSpPr>
        <p:spPr>
          <a:xfrm>
            <a:off x="10308336" y="3579879"/>
            <a:ext cx="716280" cy="59434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03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F3BB3EE4-D6D6-0D15-2C77-AB2207725241}"/>
              </a:ext>
            </a:extLst>
          </p:cNvPr>
          <p:cNvSpPr/>
          <p:nvPr/>
        </p:nvSpPr>
        <p:spPr>
          <a:xfrm>
            <a:off x="1063752" y="3579880"/>
            <a:ext cx="716280" cy="59434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01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76F4BA-BC28-4EB1-25CE-473D136BFDD6}"/>
              </a:ext>
            </a:extLst>
          </p:cNvPr>
          <p:cNvSpPr/>
          <p:nvPr/>
        </p:nvSpPr>
        <p:spPr>
          <a:xfrm>
            <a:off x="2326386" y="4642890"/>
            <a:ext cx="3442716" cy="4480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RECIPE DEFINITION &amp; STRUCTURE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4C3968-7C77-9F21-FC48-B9975367B365}"/>
              </a:ext>
            </a:extLst>
          </p:cNvPr>
          <p:cNvSpPr/>
          <p:nvPr/>
        </p:nvSpPr>
        <p:spPr>
          <a:xfrm>
            <a:off x="6920484" y="4642890"/>
            <a:ext cx="2487168" cy="4480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APPROVAL WORKFLOW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9E64D7-44FD-83CB-F9FE-331099211632}"/>
              </a:ext>
            </a:extLst>
          </p:cNvPr>
          <p:cNvSpPr txBox="1"/>
          <p:nvPr/>
        </p:nvSpPr>
        <p:spPr>
          <a:xfrm>
            <a:off x="539496" y="2137541"/>
            <a:ext cx="4142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Logic ensures all row conditions are  met before saving with user feedback on errors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98A2122-515E-6894-123E-38E0A172C76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504688" y="1771644"/>
            <a:ext cx="528828" cy="1808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29E8D7-EF4A-E1FE-E94C-27198BA02BD2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480560" y="1771644"/>
            <a:ext cx="1024128" cy="10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AEC0253-9C51-8751-98D4-3972DC12719A}"/>
              </a:ext>
            </a:extLst>
          </p:cNvPr>
          <p:cNvSpPr txBox="1"/>
          <p:nvPr/>
        </p:nvSpPr>
        <p:spPr>
          <a:xfrm>
            <a:off x="2109597" y="5294495"/>
            <a:ext cx="4142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Dynamic recipe grid with real/Boolean inputs and clear parameter mapping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D3FE31-D020-316E-C2DC-7C4B2D55A968}"/>
              </a:ext>
            </a:extLst>
          </p:cNvPr>
          <p:cNvSpPr txBox="1"/>
          <p:nvPr/>
        </p:nvSpPr>
        <p:spPr>
          <a:xfrm>
            <a:off x="6830570" y="5294494"/>
            <a:ext cx="4523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Multi-tiered approval process with roles defined for Operator, Supervisor, and Engineer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67783F-FDC3-A9F3-7CE4-9FE5CFBD1ED8}"/>
              </a:ext>
            </a:extLst>
          </p:cNvPr>
          <p:cNvCxnSpPr>
            <a:stCxn id="12" idx="1"/>
          </p:cNvCxnSpPr>
          <p:nvPr/>
        </p:nvCxnSpPr>
        <p:spPr>
          <a:xfrm flipH="1">
            <a:off x="1892808" y="4866916"/>
            <a:ext cx="4335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80969AE-826C-1FB8-3134-3AEEEBFF208E}"/>
              </a:ext>
            </a:extLst>
          </p:cNvPr>
          <p:cNvCxnSpPr>
            <a:stCxn id="11" idx="4"/>
          </p:cNvCxnSpPr>
          <p:nvPr/>
        </p:nvCxnSpPr>
        <p:spPr>
          <a:xfrm>
            <a:off x="1421892" y="4174229"/>
            <a:ext cx="470916" cy="692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E36CB36-A580-2F10-23B9-89064D8C6B75}"/>
              </a:ext>
            </a:extLst>
          </p:cNvPr>
          <p:cNvCxnSpPr>
            <a:stCxn id="13" idx="3"/>
          </p:cNvCxnSpPr>
          <p:nvPr/>
        </p:nvCxnSpPr>
        <p:spPr>
          <a:xfrm>
            <a:off x="9407652" y="4866916"/>
            <a:ext cx="9006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A747B3D-DBA3-0F6F-D0F6-2565BE465733}"/>
              </a:ext>
            </a:extLst>
          </p:cNvPr>
          <p:cNvCxnSpPr>
            <a:endCxn id="10" idx="4"/>
          </p:cNvCxnSpPr>
          <p:nvPr/>
        </p:nvCxnSpPr>
        <p:spPr>
          <a:xfrm flipV="1">
            <a:off x="10308336" y="4174228"/>
            <a:ext cx="358140" cy="692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007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8784C-0488-AB3C-3596-80F058C39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Access &amp; Security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1A72F8-450C-E0FB-4FD4-5872DEAE226D}"/>
              </a:ext>
            </a:extLst>
          </p:cNvPr>
          <p:cNvCxnSpPr/>
          <p:nvPr/>
        </p:nvCxnSpPr>
        <p:spPr>
          <a:xfrm>
            <a:off x="987552" y="1344168"/>
            <a:ext cx="4965192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CE1EC1-1EB2-9C4D-94CF-8100CDBADE4F}"/>
              </a:ext>
            </a:extLst>
          </p:cNvPr>
          <p:cNvSpPr txBox="1"/>
          <p:nvPr/>
        </p:nvSpPr>
        <p:spPr>
          <a:xfrm>
            <a:off x="1207008" y="1633115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ACCESS LEVEL</a:t>
            </a:r>
            <a:endParaRPr lang="en-IN" dirty="0"/>
          </a:p>
        </p:txBody>
      </p:sp>
      <p:sp>
        <p:nvSpPr>
          <p:cNvPr id="7" name="Star: 4 Points 6">
            <a:extLst>
              <a:ext uri="{FF2B5EF4-FFF2-40B4-BE49-F238E27FC236}">
                <a16:creationId xmlns:a16="http://schemas.microsoft.com/office/drawing/2014/main" id="{375E55EB-8DB0-447B-D244-61C3AC4C46D1}"/>
              </a:ext>
            </a:extLst>
          </p:cNvPr>
          <p:cNvSpPr/>
          <p:nvPr/>
        </p:nvSpPr>
        <p:spPr>
          <a:xfrm>
            <a:off x="850392" y="1745075"/>
            <a:ext cx="301752" cy="237744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EBD2F9-D720-70A1-642D-98D63BAFEDF6}"/>
              </a:ext>
            </a:extLst>
          </p:cNvPr>
          <p:cNvCxnSpPr>
            <a:cxnSpLocks/>
          </p:cNvCxnSpPr>
          <p:nvPr/>
        </p:nvCxnSpPr>
        <p:spPr>
          <a:xfrm>
            <a:off x="4133088" y="2771436"/>
            <a:ext cx="0" cy="3218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B99604-0DF1-DEB9-42D1-D24248FF6A96}"/>
              </a:ext>
            </a:extLst>
          </p:cNvPr>
          <p:cNvCxnSpPr>
            <a:cxnSpLocks/>
          </p:cNvCxnSpPr>
          <p:nvPr/>
        </p:nvCxnSpPr>
        <p:spPr>
          <a:xfrm>
            <a:off x="8257032" y="2771436"/>
            <a:ext cx="0" cy="3199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4D2C8F-9406-5BD8-FDA5-80C15919F507}"/>
              </a:ext>
            </a:extLst>
          </p:cNvPr>
          <p:cNvSpPr txBox="1"/>
          <p:nvPr/>
        </p:nvSpPr>
        <p:spPr>
          <a:xfrm>
            <a:off x="735330" y="2864200"/>
            <a:ext cx="28986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/>
              <a:t>ROLES ^ RESPONSIBILITIES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3A7966-0C64-7659-9B9E-14329D7A98A5}"/>
              </a:ext>
            </a:extLst>
          </p:cNvPr>
          <p:cNvSpPr txBox="1"/>
          <p:nvPr/>
        </p:nvSpPr>
        <p:spPr>
          <a:xfrm>
            <a:off x="5104638" y="2864200"/>
            <a:ext cx="2129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/>
              <a:t>AUTHENTICATION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4518E6-C75D-C3ED-5EC7-70B481751F33}"/>
              </a:ext>
            </a:extLst>
          </p:cNvPr>
          <p:cNvSpPr txBox="1"/>
          <p:nvPr/>
        </p:nvSpPr>
        <p:spPr>
          <a:xfrm>
            <a:off x="9280402" y="2864200"/>
            <a:ext cx="1628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/>
              <a:t>AUDIT LOGS</a:t>
            </a:r>
            <a:endParaRPr lang="en-IN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F64CF0-A5B9-8A9C-2956-736C6D9C6C70}"/>
              </a:ext>
            </a:extLst>
          </p:cNvPr>
          <p:cNvSpPr txBox="1"/>
          <p:nvPr/>
        </p:nvSpPr>
        <p:spPr>
          <a:xfrm>
            <a:off x="886967" y="3747557"/>
            <a:ext cx="23774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Operators create/edit; Supervisor and Engineer approve/reject recipe accordingly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50738A-43B7-5A3D-04F8-E907918124A1}"/>
              </a:ext>
            </a:extLst>
          </p:cNvPr>
          <p:cNvSpPr txBox="1"/>
          <p:nvPr/>
        </p:nvSpPr>
        <p:spPr>
          <a:xfrm>
            <a:off x="5156458" y="3837657"/>
            <a:ext cx="2130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Secure login with user roles managed through an Admin interface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D75758-56BD-9C65-049C-B2E8D7B2E481}"/>
              </a:ext>
            </a:extLst>
          </p:cNvPr>
          <p:cNvSpPr txBox="1"/>
          <p:nvPr/>
        </p:nvSpPr>
        <p:spPr>
          <a:xfrm>
            <a:off x="9683497" y="3837656"/>
            <a:ext cx="18287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All critical user actions are logged for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3780800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57A5-9060-A10A-A1FD-5CB10BB45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088" y="365125"/>
            <a:ext cx="8363712" cy="1325563"/>
          </a:xfrm>
        </p:spPr>
        <p:txBody>
          <a:bodyPr/>
          <a:lstStyle/>
          <a:p>
            <a:r>
              <a:rPr lang="en-IN" dirty="0"/>
              <a:t>Technical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24B980-3C55-C0D9-BF03-3D42AA518060}"/>
              </a:ext>
            </a:extLst>
          </p:cNvPr>
          <p:cNvSpPr/>
          <p:nvPr/>
        </p:nvSpPr>
        <p:spPr>
          <a:xfrm>
            <a:off x="3424428" y="2378076"/>
            <a:ext cx="4480558" cy="284378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u="sng" dirty="0"/>
              <a:t>SYSTEM COMPONENTS</a:t>
            </a:r>
          </a:p>
          <a:p>
            <a:pPr algn="ctr"/>
            <a:endParaRPr lang="en-IN" sz="2000" u="sng" dirty="0"/>
          </a:p>
          <a:p>
            <a:pPr algn="ctr"/>
            <a:endParaRPr lang="en-IN" sz="2000" u="sng" dirty="0"/>
          </a:p>
          <a:p>
            <a:pPr algn="ctr"/>
            <a:endParaRPr lang="en-IN" sz="2000" u="sng" dirty="0"/>
          </a:p>
          <a:p>
            <a:pPr algn="ctr"/>
            <a:endParaRPr lang="en-IN" sz="2000" u="sng" dirty="0"/>
          </a:p>
          <a:p>
            <a:pPr algn="ctr"/>
            <a:endParaRPr lang="en-IN" sz="2000" u="sng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0EBA3F-BB50-AE74-D0A1-DC48C10A1EEF}"/>
              </a:ext>
            </a:extLst>
          </p:cNvPr>
          <p:cNvCxnSpPr/>
          <p:nvPr/>
        </p:nvCxnSpPr>
        <p:spPr>
          <a:xfrm>
            <a:off x="3282695" y="1463040"/>
            <a:ext cx="47640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3944D06-514F-EB06-878D-66B53A6EDD53}"/>
              </a:ext>
            </a:extLst>
          </p:cNvPr>
          <p:cNvSpPr txBox="1"/>
          <p:nvPr/>
        </p:nvSpPr>
        <p:spPr>
          <a:xfrm>
            <a:off x="4178808" y="3552444"/>
            <a:ext cx="32552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u="sng" dirty="0"/>
              <a:t>Frontend handles user interactions;</a:t>
            </a:r>
          </a:p>
          <a:p>
            <a:pPr algn="ctr"/>
            <a:r>
              <a:rPr lang="en-IN" sz="2000" b="1" u="sng" dirty="0"/>
              <a:t>Backend manages data processing</a:t>
            </a:r>
          </a:p>
        </p:txBody>
      </p:sp>
    </p:spTree>
    <p:extLst>
      <p:ext uri="{BB962C8B-B14F-4D97-AF65-F5344CB8AC3E}">
        <p14:creationId xmlns:p14="http://schemas.microsoft.com/office/powerpoint/2010/main" val="2073710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2EAA-CA84-146E-2FEA-39A7CF6C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&amp; Software Requirements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78746A-2FE8-6C7F-2464-D5E3F8EB31B5}"/>
              </a:ext>
            </a:extLst>
          </p:cNvPr>
          <p:cNvCxnSpPr/>
          <p:nvPr/>
        </p:nvCxnSpPr>
        <p:spPr>
          <a:xfrm>
            <a:off x="1051560" y="1527048"/>
            <a:ext cx="78089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26EB0AE-A6F3-31E5-5F6F-E6F0B028EF5C}"/>
              </a:ext>
            </a:extLst>
          </p:cNvPr>
          <p:cNvSpPr txBox="1"/>
          <p:nvPr/>
        </p:nvSpPr>
        <p:spPr>
          <a:xfrm>
            <a:off x="601980" y="2601678"/>
            <a:ext cx="361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  <a:latin typeface="Castellar" panose="020A0402060406010301" pitchFamily="18" charset="0"/>
              </a:rPr>
              <a:t>FRONTEND REQUIREMENT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C056D8E-B0C0-8D28-C06B-CF323B5A835F}"/>
              </a:ext>
            </a:extLst>
          </p:cNvPr>
          <p:cNvSpPr/>
          <p:nvPr/>
        </p:nvSpPr>
        <p:spPr>
          <a:xfrm>
            <a:off x="414528" y="3325694"/>
            <a:ext cx="3730752" cy="1325563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Options for Desktop utilizing suitable framework and UI technologies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B96427-E560-3412-EF53-4994DC4EA6FA}"/>
              </a:ext>
            </a:extLst>
          </p:cNvPr>
          <p:cNvSpPr txBox="1"/>
          <p:nvPr/>
        </p:nvSpPr>
        <p:spPr>
          <a:xfrm>
            <a:off x="6781800" y="1837412"/>
            <a:ext cx="361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  <a:latin typeface="Castellar" panose="020A0402060406010301" pitchFamily="18" charset="0"/>
              </a:rPr>
              <a:t>BACKEND REQUIREMENTS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AA42B3-4B95-B841-BCB0-3AD693B44899}"/>
              </a:ext>
            </a:extLst>
          </p:cNvPr>
          <p:cNvSpPr/>
          <p:nvPr/>
        </p:nvSpPr>
        <p:spPr>
          <a:xfrm>
            <a:off x="5257800" y="2338745"/>
            <a:ext cx="6821424" cy="3129367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97871-B1A0-DEE6-BCCD-77D722983EA1}"/>
              </a:ext>
            </a:extLst>
          </p:cNvPr>
          <p:cNvSpPr txBox="1"/>
          <p:nvPr/>
        </p:nvSpPr>
        <p:spPr>
          <a:xfrm>
            <a:off x="6781800" y="2646918"/>
            <a:ext cx="4078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PROFRAMMING LANG. &amp; FRAMEWORK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E5FABF-D896-1320-78BD-75B372702B40}"/>
              </a:ext>
            </a:extLst>
          </p:cNvPr>
          <p:cNvSpPr txBox="1"/>
          <p:nvPr/>
        </p:nvSpPr>
        <p:spPr>
          <a:xfrm>
            <a:off x="7220712" y="2971010"/>
            <a:ext cx="3493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Python, Java, React, along with their respective frameworks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028763-3071-DACA-91F6-90A465DC7921}"/>
              </a:ext>
            </a:extLst>
          </p:cNvPr>
          <p:cNvSpPr txBox="1"/>
          <p:nvPr/>
        </p:nvSpPr>
        <p:spPr>
          <a:xfrm>
            <a:off x="7897368" y="3872849"/>
            <a:ext cx="170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DATA STORAGE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7B9002-2FBB-A111-C422-35E492496245}"/>
              </a:ext>
            </a:extLst>
          </p:cNvPr>
          <p:cNvSpPr txBox="1"/>
          <p:nvPr/>
        </p:nvSpPr>
        <p:spPr>
          <a:xfrm>
            <a:off x="7296912" y="4280584"/>
            <a:ext cx="3096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Recipe maintained in secure CSV files with encrypted user credentials and logs.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871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uble Bracket 1">
            <a:extLst>
              <a:ext uri="{FF2B5EF4-FFF2-40B4-BE49-F238E27FC236}">
                <a16:creationId xmlns:a16="http://schemas.microsoft.com/office/drawing/2014/main" id="{ECF6B50F-8057-6C57-BAF2-B92FE4EB6B54}"/>
              </a:ext>
            </a:extLst>
          </p:cNvPr>
          <p:cNvSpPr/>
          <p:nvPr/>
        </p:nvSpPr>
        <p:spPr>
          <a:xfrm>
            <a:off x="2685289" y="2276856"/>
            <a:ext cx="2066544" cy="2020824"/>
          </a:xfrm>
          <a:prstGeom prst="bracketPair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Double Bracket 2">
            <a:extLst>
              <a:ext uri="{FF2B5EF4-FFF2-40B4-BE49-F238E27FC236}">
                <a16:creationId xmlns:a16="http://schemas.microsoft.com/office/drawing/2014/main" id="{76E590E2-9E06-ADE0-E735-BC1CA5C3F561}"/>
              </a:ext>
            </a:extLst>
          </p:cNvPr>
          <p:cNvSpPr/>
          <p:nvPr/>
        </p:nvSpPr>
        <p:spPr>
          <a:xfrm>
            <a:off x="7232904" y="2276856"/>
            <a:ext cx="2313432" cy="2020824"/>
          </a:xfrm>
          <a:prstGeom prst="bracketPair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EEE1E-F62E-9098-FED5-70EC7B9DA348}"/>
              </a:ext>
            </a:extLst>
          </p:cNvPr>
          <p:cNvSpPr txBox="1"/>
          <p:nvPr/>
        </p:nvSpPr>
        <p:spPr>
          <a:xfrm>
            <a:off x="3270505" y="2423160"/>
            <a:ext cx="14813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/>
              <a:t>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06844-52AB-08E3-B96F-8170A024D574}"/>
              </a:ext>
            </a:extLst>
          </p:cNvPr>
          <p:cNvSpPr txBox="1"/>
          <p:nvPr/>
        </p:nvSpPr>
        <p:spPr>
          <a:xfrm>
            <a:off x="5670803" y="2779436"/>
            <a:ext cx="14813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&amp;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0435C9-EFEB-75B9-BDE1-C1632ECE6065}"/>
              </a:ext>
            </a:extLst>
          </p:cNvPr>
          <p:cNvSpPr txBox="1"/>
          <p:nvPr/>
        </p:nvSpPr>
        <p:spPr>
          <a:xfrm>
            <a:off x="7984235" y="2420052"/>
            <a:ext cx="14813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90696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332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Algerian</vt:lpstr>
      <vt:lpstr>Arial</vt:lpstr>
      <vt:lpstr>Calibri</vt:lpstr>
      <vt:lpstr>Calibri Light</vt:lpstr>
      <vt:lpstr>Castellar</vt:lpstr>
      <vt:lpstr>Office Theme</vt:lpstr>
      <vt:lpstr> RECIPE MANAGEMENT SYSTEM</vt:lpstr>
      <vt:lpstr>       Project Vision        Core Objective</vt:lpstr>
      <vt:lpstr>Project Phases:</vt:lpstr>
      <vt:lpstr>Core System Requirement</vt:lpstr>
      <vt:lpstr>Detailed Feature</vt:lpstr>
      <vt:lpstr>User Access &amp; Security</vt:lpstr>
      <vt:lpstr>Technical Architecture</vt:lpstr>
      <vt:lpstr>Technical &amp; Software Requirements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JHA</dc:creator>
  <cp:lastModifiedBy>GAURAV JHA</cp:lastModifiedBy>
  <cp:revision>1</cp:revision>
  <dcterms:created xsi:type="dcterms:W3CDTF">2025-05-11T05:13:19Z</dcterms:created>
  <dcterms:modified xsi:type="dcterms:W3CDTF">2025-05-11T09:47:23Z</dcterms:modified>
</cp:coreProperties>
</file>