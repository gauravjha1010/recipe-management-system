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34C02-5C6D-608A-E801-012974C16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A8FD0-2887-54DE-4E32-6BBA5D56B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62ACD-69CF-480E-EF80-2ED7233CB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19E-18EC-44B2-A470-744D81733D7B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2E67B-9AB6-B73D-C86C-9C4DF4F4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DF149-C685-7E48-F1B0-C7D8A716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88C6-CFF2-4481-B7AD-B94F0FA4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921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2EF0B-F8C6-96B3-8671-517D8317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2FB10-1FE1-4694-E120-D7F972946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1004E-F188-31E5-014C-94877D057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19E-18EC-44B2-A470-744D81733D7B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89962-5642-98AD-9EA8-CAF68EAD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9806E-853E-4F68-5342-370D13F92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88C6-CFF2-4481-B7AD-B94F0FA4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399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7C62B-AA56-09A2-BE4C-D2974FF6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4A92D-BD26-9382-51F3-0532609D7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8A8E8-15FD-60DE-1BC8-DEED043A2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19E-18EC-44B2-A470-744D81733D7B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8CB2-8293-9650-DD56-DA49CCC3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014D2-8846-E8D9-8D63-746F8A4F2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88C6-CFF2-4481-B7AD-B94F0FA4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7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0AF6-5414-1AD6-C182-42590A39A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8CFE-B987-1043-2CA5-5E1887DBD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D886D-3009-3DF2-7BB6-C0F2D277F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24D0D-607E-3BB9-4304-1AE81A664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19E-18EC-44B2-A470-744D81733D7B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1A34B-E124-B192-5CBD-158CCC868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4226D-0FDB-A6D6-BB99-9FBCA39D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88C6-CFF2-4481-B7AD-B94F0FA4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058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13ABB-6132-1776-AE39-5840E6BC6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C0EF8-5580-5212-3CAA-363418BE2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B310F9-EA9F-D1D2-7E0F-3D333315E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19D67F-E35D-A75C-5815-AF6A50C19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54CAEF-FDC4-B8DC-CEE0-4C4D895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9F0A6-AE06-B1EF-2183-A0BC607FD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19E-18EC-44B2-A470-744D81733D7B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0BA76-5F1C-6305-04ED-12FD6FDBA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AB682-403B-9258-7155-511EB6185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88C6-CFF2-4481-B7AD-B94F0FA4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28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A3A3-9FDC-D88A-186E-732B29F88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4CF03A-151B-D3E0-2549-7F1D6A072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19E-18EC-44B2-A470-744D81733D7B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8126F-C070-E6A7-02DA-A614324E7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9D786-3EE2-2249-2EA8-270EC069B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88C6-CFF2-4481-B7AD-B94F0FA4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162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D5FBD7-D810-2BDA-64F5-4ABDA6F22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19E-18EC-44B2-A470-744D81733D7B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EFC22-62E0-D8CE-29C0-8FE0C2A21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594C2-1453-E093-29DD-8412CEAF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88C6-CFF2-4481-B7AD-B94F0FA4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640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B0FBA-E4D1-178D-4577-AFC19D577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EC79F-82DA-F081-F107-519C9ED78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179C9-AE5B-BF31-256C-C44281BB4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49E5F-64D7-96A4-6364-25D6247F6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19E-18EC-44B2-A470-744D81733D7B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ACA23-B499-B52D-9621-437E7103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D81D3-887A-85AA-D2A4-65132F1F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88C6-CFF2-4481-B7AD-B94F0FA4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908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EB6B-E0AE-7FA1-9275-BFCC10603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7F8389-9641-9D94-57B9-FD838BAE6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4D620-2708-1852-237B-A4C28B3DA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664AC-04CD-8F92-6961-E0C8C9222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19E-18EC-44B2-A470-744D81733D7B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F361D-B003-A2FD-7D6B-31130476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F2A8E-F427-D668-34EA-A2864A25E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88C6-CFF2-4481-B7AD-B94F0FA4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240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083F3-4D37-3F44-B174-D4801BC43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8955D-6476-0486-1012-87472BAAE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C2BD9-02B0-C009-5FE5-3F760D27A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19E-18EC-44B2-A470-744D81733D7B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0BD6B-0016-995A-7419-BAB71017F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BF9E9-011D-5F43-7D8D-897BD91FE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88C6-CFF2-4481-B7AD-B94F0FA4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674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3DE364-076C-28C6-FF86-CA3579CB2A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C552C-E0AB-7312-7223-1207E1F3B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02581-4A06-4682-8C65-1EAA5B49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19E-18EC-44B2-A470-744D81733D7B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BB459-BB3C-AD8A-EA16-DE4F483FF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6770D-B8B7-D893-D77E-279059F75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88C6-CFF2-4481-B7AD-B94F0FA4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80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B49F7E-C408-8543-6171-408161257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9FB1C-70CA-2CBA-7F4E-5E4EFBD16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65107-AC7C-F330-ADEA-3B8178E60D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5F19E-18EC-44B2-A470-744D81733D7B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C94A0-62FF-7F8C-8C76-21211CA4E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50C95-5678-2061-291F-67D476A28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C88C6-CFF2-4481-B7AD-B94F0FA4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866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E9D145B-6D2D-659D-BA07-C8FDB2D6CC6D}"/>
              </a:ext>
            </a:extLst>
          </p:cNvPr>
          <p:cNvSpPr txBox="1"/>
          <p:nvPr/>
        </p:nvSpPr>
        <p:spPr>
          <a:xfrm>
            <a:off x="4572000" y="515239"/>
            <a:ext cx="795870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lgerian" panose="04020705040A02060702" pitchFamily="82" charset="0"/>
              </a:rPr>
              <a:t>RECIPE  MANAGEMENT  SYSTEM</a:t>
            </a:r>
          </a:p>
          <a:p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E1AB13-908D-E34E-8DBC-19EEE8047296}"/>
              </a:ext>
            </a:extLst>
          </p:cNvPr>
          <p:cNvSpPr/>
          <p:nvPr/>
        </p:nvSpPr>
        <p:spPr>
          <a:xfrm>
            <a:off x="5267283" y="4703886"/>
            <a:ext cx="5733369" cy="822960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284E30-6CEE-1E18-87D0-CCC8CE05B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363" y="4771958"/>
            <a:ext cx="515112" cy="68681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8C5D0F6-5CF3-1541-FB70-5931799D749D}"/>
              </a:ext>
            </a:extLst>
          </p:cNvPr>
          <p:cNvSpPr/>
          <p:nvPr/>
        </p:nvSpPr>
        <p:spPr>
          <a:xfrm>
            <a:off x="3520820" y="1630026"/>
            <a:ext cx="922629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IN" sz="3200" b="1" u="sng" cap="none" spc="0" dirty="0">
                <a:ln/>
                <a:solidFill>
                  <a:schemeClr val="accent3"/>
                </a:solidFill>
                <a:effectLst/>
                <a:latin typeface="Castellar" panose="020A0402060406010301" pitchFamily="18" charset="0"/>
              </a:rPr>
              <a:t>Technical WORKFLOW</a:t>
            </a:r>
            <a:endParaRPr lang="en-IN" sz="32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F0DF16-3F2B-BB4C-473B-C1ABF66B9EAC}"/>
              </a:ext>
            </a:extLst>
          </p:cNvPr>
          <p:cNvSpPr txBox="1"/>
          <p:nvPr/>
        </p:nvSpPr>
        <p:spPr>
          <a:xfrm>
            <a:off x="5873877" y="4985049"/>
            <a:ext cx="3584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Presenter  &gt;&gt;   GAURAV KUMAR JHA  </a:t>
            </a:r>
          </a:p>
          <a:p>
            <a:endParaRPr lang="en-IN" dirty="0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274818E0-CC56-79BB-2AC1-A379CAA67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80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AF7D-296E-3929-2BBF-59364F0A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88"/>
            <a:ext cx="10515600" cy="1325563"/>
          </a:xfrm>
        </p:spPr>
        <p:txBody>
          <a:bodyPr/>
          <a:lstStyle/>
          <a:p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TOOLS &amp; SOFTWARE </a:t>
            </a: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36F18A3B-4F78-03D7-62D9-5B7CBBBFB6BA}"/>
              </a:ext>
            </a:extLst>
          </p:cNvPr>
          <p:cNvSpPr/>
          <p:nvPr/>
        </p:nvSpPr>
        <p:spPr>
          <a:xfrm>
            <a:off x="292608" y="1343851"/>
            <a:ext cx="320040" cy="356933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79AE6E-428F-2403-DE1F-9C7223FF4104}"/>
              </a:ext>
            </a:extLst>
          </p:cNvPr>
          <p:cNvCxnSpPr/>
          <p:nvPr/>
        </p:nvCxnSpPr>
        <p:spPr>
          <a:xfrm>
            <a:off x="1005840" y="1014984"/>
            <a:ext cx="4500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D55CE0-ADCA-9C77-9AF6-A354A2AEEB69}"/>
              </a:ext>
            </a:extLst>
          </p:cNvPr>
          <p:cNvSpPr txBox="1"/>
          <p:nvPr/>
        </p:nvSpPr>
        <p:spPr>
          <a:xfrm>
            <a:off x="0" y="1291484"/>
            <a:ext cx="3666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Arial Rounded MT Bold" panose="020F0704030504030204" pitchFamily="34" charset="0"/>
              </a:rPr>
              <a:t>FRONTEND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B327D574-4C33-9E74-DC91-862CE7D0C3A0}"/>
              </a:ext>
            </a:extLst>
          </p:cNvPr>
          <p:cNvSpPr/>
          <p:nvPr/>
        </p:nvSpPr>
        <p:spPr>
          <a:xfrm>
            <a:off x="1092708" y="2111947"/>
            <a:ext cx="740664" cy="457200"/>
          </a:xfrm>
          <a:prstGeom prst="flowChartConnec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01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C698B8C-C7C0-87C4-2EBA-021B89B70A9D}"/>
              </a:ext>
            </a:extLst>
          </p:cNvPr>
          <p:cNvSpPr/>
          <p:nvPr/>
        </p:nvSpPr>
        <p:spPr>
          <a:xfrm>
            <a:off x="2130552" y="1883348"/>
            <a:ext cx="4047744" cy="9143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user interface</a:t>
            </a:r>
          </a:p>
          <a:p>
            <a:r>
              <a:rPr lang="en-IN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user experience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1DA503-C188-E278-D15E-51DB50A31528}"/>
              </a:ext>
            </a:extLst>
          </p:cNvPr>
          <p:cNvSpPr txBox="1"/>
          <p:nvPr/>
        </p:nvSpPr>
        <p:spPr>
          <a:xfrm>
            <a:off x="2359152" y="2078937"/>
            <a:ext cx="1088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UI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UX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0855C62-16BC-8E40-C986-4449B335D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476" y="1883348"/>
            <a:ext cx="5661153" cy="403003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810366E6-A9C0-3EA0-1CC0-5BADFDA10188}"/>
              </a:ext>
            </a:extLst>
          </p:cNvPr>
          <p:cNvSpPr txBox="1"/>
          <p:nvPr/>
        </p:nvSpPr>
        <p:spPr>
          <a:xfrm>
            <a:off x="1194444" y="3156544"/>
            <a:ext cx="43113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UI</a:t>
            </a:r>
            <a:r>
              <a:rPr lang="en-IN" dirty="0"/>
              <a:t> </a:t>
            </a:r>
          </a:p>
          <a:p>
            <a:r>
              <a:rPr lang="en-IN" dirty="0"/>
              <a:t>This is specific set of visual elements and interactive components that users interact with – “the look and feel”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7FBB25-7A9C-DCBB-658D-7AB0E7E83991}"/>
              </a:ext>
            </a:extLst>
          </p:cNvPr>
          <p:cNvSpPr txBox="1"/>
          <p:nvPr/>
        </p:nvSpPr>
        <p:spPr>
          <a:xfrm>
            <a:off x="1194444" y="4559939"/>
            <a:ext cx="43113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UX</a:t>
            </a:r>
            <a:r>
              <a:rPr lang="en-IN" dirty="0"/>
              <a:t> </a:t>
            </a:r>
          </a:p>
          <a:p>
            <a:r>
              <a:rPr lang="en-IN" dirty="0"/>
              <a:t>This is overall experience a user has while interacting with your system. User should be able to find the recipes they want quickly and easily.</a:t>
            </a:r>
          </a:p>
        </p:txBody>
      </p:sp>
    </p:spTree>
    <p:extLst>
      <p:ext uri="{BB962C8B-B14F-4D97-AF65-F5344CB8AC3E}">
        <p14:creationId xmlns:p14="http://schemas.microsoft.com/office/powerpoint/2010/main" val="4073869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B5A4E343-19E6-5C86-8886-E9329126D991}"/>
              </a:ext>
            </a:extLst>
          </p:cNvPr>
          <p:cNvSpPr/>
          <p:nvPr/>
        </p:nvSpPr>
        <p:spPr>
          <a:xfrm>
            <a:off x="459486" y="874717"/>
            <a:ext cx="740664" cy="457200"/>
          </a:xfrm>
          <a:prstGeom prst="flowChartConnec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02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C0BF875-5616-0E6E-641E-D25A765D80C4}"/>
              </a:ext>
            </a:extLst>
          </p:cNvPr>
          <p:cNvSpPr/>
          <p:nvPr/>
        </p:nvSpPr>
        <p:spPr>
          <a:xfrm>
            <a:off x="1691640" y="743913"/>
            <a:ext cx="2926080" cy="7188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B4803-D3B1-726C-D42E-597D03BAD71B}"/>
              </a:ext>
            </a:extLst>
          </p:cNvPr>
          <p:cNvSpPr txBox="1"/>
          <p:nvPr/>
        </p:nvSpPr>
        <p:spPr>
          <a:xfrm>
            <a:off x="1860804" y="874717"/>
            <a:ext cx="2926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HTML - 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43377C-CEC0-0289-95FA-68B7CAFB4736}"/>
              </a:ext>
            </a:extLst>
          </p:cNvPr>
          <p:cNvSpPr txBox="1"/>
          <p:nvPr/>
        </p:nvSpPr>
        <p:spPr>
          <a:xfrm>
            <a:off x="2731008" y="1874520"/>
            <a:ext cx="6729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Core Task : Define the basic layout and content elements for recipe list, 	   recipe details, and options , etc.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A1590-D425-4839-104A-D95FA1B12323}"/>
              </a:ext>
            </a:extLst>
          </p:cNvPr>
          <p:cNvSpPr txBox="1"/>
          <p:nvPr/>
        </p:nvSpPr>
        <p:spPr>
          <a:xfrm>
            <a:off x="2731008" y="2565231"/>
            <a:ext cx="6729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Key Tools : HTML5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12D74F88-734F-76C9-243B-1E6D0C75D814}"/>
              </a:ext>
            </a:extLst>
          </p:cNvPr>
          <p:cNvSpPr/>
          <p:nvPr/>
        </p:nvSpPr>
        <p:spPr>
          <a:xfrm>
            <a:off x="459486" y="3200400"/>
            <a:ext cx="740664" cy="457200"/>
          </a:xfrm>
          <a:prstGeom prst="flowChartConnec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667FF7-4F37-1610-0C19-8F8D08D86DBC}"/>
              </a:ext>
            </a:extLst>
          </p:cNvPr>
          <p:cNvSpPr/>
          <p:nvPr/>
        </p:nvSpPr>
        <p:spPr>
          <a:xfrm>
            <a:off x="1691640" y="3084861"/>
            <a:ext cx="2926080" cy="7188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87294F-62F6-71F2-8501-ECB1B664E8E3}"/>
              </a:ext>
            </a:extLst>
          </p:cNvPr>
          <p:cNvSpPr txBox="1"/>
          <p:nvPr/>
        </p:nvSpPr>
        <p:spPr>
          <a:xfrm>
            <a:off x="1744218" y="3206725"/>
            <a:ext cx="2820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CSS - Presentation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79B531-7A94-85A3-9978-F16CEC013974}"/>
              </a:ext>
            </a:extLst>
          </p:cNvPr>
          <p:cNvSpPr txBox="1"/>
          <p:nvPr/>
        </p:nvSpPr>
        <p:spPr>
          <a:xfrm>
            <a:off x="2731008" y="4293955"/>
            <a:ext cx="6729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Core Task : Style the HTML to make it visually appealing, user-friendly, and responsive across devices.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494959-7B39-C3A2-A658-E0CAAB7253FC}"/>
              </a:ext>
            </a:extLst>
          </p:cNvPr>
          <p:cNvSpPr txBox="1"/>
          <p:nvPr/>
        </p:nvSpPr>
        <p:spPr>
          <a:xfrm>
            <a:off x="2731008" y="4940286"/>
            <a:ext cx="6729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Key Tools : CSS3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599E6F-E918-DE8C-65B7-E858678E160E}"/>
              </a:ext>
            </a:extLst>
          </p:cNvPr>
          <p:cNvSpPr txBox="1"/>
          <p:nvPr/>
        </p:nvSpPr>
        <p:spPr>
          <a:xfrm>
            <a:off x="893826" y="5893182"/>
            <a:ext cx="10851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When interpreter find references to CSS(either via &lt;</a:t>
            </a:r>
            <a:r>
              <a:rPr lang="en-IN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link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 tag, &lt;</a:t>
            </a:r>
            <a:r>
              <a:rPr lang="en-IN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style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 tag, or </a:t>
            </a:r>
            <a:r>
              <a:rPr lang="en-IN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style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attribute),it fetches and applies those styling instruction to then HTML elements.</a:t>
            </a:r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4D60E4E5-57E3-A171-D8EB-78CCC3CF6DDC}"/>
              </a:ext>
            </a:extLst>
          </p:cNvPr>
          <p:cNvSpPr/>
          <p:nvPr/>
        </p:nvSpPr>
        <p:spPr>
          <a:xfrm>
            <a:off x="232029" y="5893182"/>
            <a:ext cx="454914" cy="457200"/>
          </a:xfrm>
          <a:prstGeom prst="star5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42F0E9EF-F0A7-A95F-DFD1-92E8A0093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4250" y="917995"/>
            <a:ext cx="519467" cy="4902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5540F06-8C22-226E-15D5-FD0F9D6C2BB7}"/>
              </a:ext>
            </a:extLst>
          </p:cNvPr>
          <p:cNvSpPr/>
          <p:nvPr/>
        </p:nvSpPr>
        <p:spPr>
          <a:xfrm>
            <a:off x="10353323" y="3082116"/>
            <a:ext cx="1652840" cy="530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CODE EDITOR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BA295E-A526-A1EF-D094-AD039EE2B11C}"/>
              </a:ext>
            </a:extLst>
          </p:cNvPr>
          <p:cNvSpPr txBox="1"/>
          <p:nvPr/>
        </p:nvSpPr>
        <p:spPr>
          <a:xfrm>
            <a:off x="10681504" y="3674981"/>
            <a:ext cx="1245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VS Code</a:t>
            </a:r>
          </a:p>
        </p:txBody>
      </p:sp>
    </p:spTree>
    <p:extLst>
      <p:ext uri="{BB962C8B-B14F-4D97-AF65-F5344CB8AC3E}">
        <p14:creationId xmlns:p14="http://schemas.microsoft.com/office/powerpoint/2010/main" val="3606872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9FC7-602D-D959-2408-304CF590B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202554"/>
            <a:ext cx="10515600" cy="1325563"/>
          </a:xfrm>
        </p:spPr>
        <p:txBody>
          <a:bodyPr/>
          <a:lstStyle/>
          <a:p>
            <a:r>
              <a:rPr lang="en-IN" dirty="0"/>
              <a:t>BACKEND OVERVIEW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20D191-88A7-2ACE-EF70-CB98629904E7}"/>
              </a:ext>
            </a:extLst>
          </p:cNvPr>
          <p:cNvCxnSpPr>
            <a:cxnSpLocks/>
          </p:cNvCxnSpPr>
          <p:nvPr/>
        </p:nvCxnSpPr>
        <p:spPr>
          <a:xfrm>
            <a:off x="219075" y="790575"/>
            <a:ext cx="453580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F6D89BB5-5974-A3FB-5D7F-042C5B24F8BD}"/>
              </a:ext>
            </a:extLst>
          </p:cNvPr>
          <p:cNvSpPr/>
          <p:nvPr/>
        </p:nvSpPr>
        <p:spPr>
          <a:xfrm>
            <a:off x="428625" y="1001601"/>
            <a:ext cx="304800" cy="419896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33EB0882-0EB1-0A41-1828-E5F7ABD3D807}"/>
              </a:ext>
            </a:extLst>
          </p:cNvPr>
          <p:cNvSpPr/>
          <p:nvPr/>
        </p:nvSpPr>
        <p:spPr>
          <a:xfrm>
            <a:off x="428625" y="2044088"/>
            <a:ext cx="304800" cy="419896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F2D2B1DD-BF18-4395-5FF4-0D23D63173FF}"/>
              </a:ext>
            </a:extLst>
          </p:cNvPr>
          <p:cNvSpPr/>
          <p:nvPr/>
        </p:nvSpPr>
        <p:spPr>
          <a:xfrm>
            <a:off x="428625" y="3093237"/>
            <a:ext cx="304800" cy="419896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981234E5-F5F4-B9AD-0324-9C1E6D08FB35}"/>
              </a:ext>
            </a:extLst>
          </p:cNvPr>
          <p:cNvSpPr/>
          <p:nvPr/>
        </p:nvSpPr>
        <p:spPr>
          <a:xfrm>
            <a:off x="451385" y="5399879"/>
            <a:ext cx="304800" cy="419896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E1DDF8B9-226B-BBD9-73D5-F7233D5D8E02}"/>
              </a:ext>
            </a:extLst>
          </p:cNvPr>
          <p:cNvSpPr/>
          <p:nvPr/>
        </p:nvSpPr>
        <p:spPr>
          <a:xfrm>
            <a:off x="428625" y="4246558"/>
            <a:ext cx="304800" cy="419896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3E11F80-21AB-CA85-0D12-CE450CC6B065}"/>
              </a:ext>
            </a:extLst>
          </p:cNvPr>
          <p:cNvSpPr/>
          <p:nvPr/>
        </p:nvSpPr>
        <p:spPr>
          <a:xfrm>
            <a:off x="950118" y="5399883"/>
            <a:ext cx="1957388" cy="419892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Response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57E893D-8FFE-5688-3659-EA773C4CE0A8}"/>
              </a:ext>
            </a:extLst>
          </p:cNvPr>
          <p:cNvSpPr/>
          <p:nvPr/>
        </p:nvSpPr>
        <p:spPr>
          <a:xfrm>
            <a:off x="950118" y="4246562"/>
            <a:ext cx="1957388" cy="41989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296E7F8-FAB9-3CC9-55E3-C91C7912B759}"/>
              </a:ext>
            </a:extLst>
          </p:cNvPr>
          <p:cNvSpPr/>
          <p:nvPr/>
        </p:nvSpPr>
        <p:spPr>
          <a:xfrm>
            <a:off x="950118" y="3093237"/>
            <a:ext cx="1957388" cy="41989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Controller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59AC561-5D7B-E8FF-50A2-BCFAF38D39EE}"/>
              </a:ext>
            </a:extLst>
          </p:cNvPr>
          <p:cNvSpPr/>
          <p:nvPr/>
        </p:nvSpPr>
        <p:spPr>
          <a:xfrm>
            <a:off x="900949" y="2018474"/>
            <a:ext cx="1957388" cy="4198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Routing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CEC21C4-8031-E05A-0D02-328479554978}"/>
              </a:ext>
            </a:extLst>
          </p:cNvPr>
          <p:cNvSpPr/>
          <p:nvPr/>
        </p:nvSpPr>
        <p:spPr>
          <a:xfrm>
            <a:off x="900949" y="996172"/>
            <a:ext cx="1957388" cy="41989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 Receives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FDAA7E-B2DD-AC7A-4CE2-167DDAF6F806}"/>
              </a:ext>
            </a:extLst>
          </p:cNvPr>
          <p:cNvSpPr txBox="1"/>
          <p:nvPr/>
        </p:nvSpPr>
        <p:spPr>
          <a:xfrm>
            <a:off x="3025862" y="919894"/>
            <a:ext cx="446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</a:rPr>
              <a:t>Starts the communication with the backend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2961E7-2EA8-E02C-D839-AADD9DD16BD7}"/>
              </a:ext>
            </a:extLst>
          </p:cNvPr>
          <p:cNvSpPr txBox="1"/>
          <p:nvPr/>
        </p:nvSpPr>
        <p:spPr>
          <a:xfrm>
            <a:off x="3000515" y="2212496"/>
            <a:ext cx="670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Handles request via HTTP protocol (basically inspect the request)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405A6D-0543-27D0-4656-303F0C17DA69}"/>
              </a:ext>
            </a:extLst>
          </p:cNvPr>
          <p:cNvSpPr txBox="1"/>
          <p:nvPr/>
        </p:nvSpPr>
        <p:spPr>
          <a:xfrm>
            <a:off x="3000515" y="1923301"/>
            <a:ext cx="446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</a:rPr>
              <a:t>Determines which endpoint to use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523B24-254B-B533-AEE3-D18AB13698E2}"/>
              </a:ext>
            </a:extLst>
          </p:cNvPr>
          <p:cNvSpPr txBox="1"/>
          <p:nvPr/>
        </p:nvSpPr>
        <p:spPr>
          <a:xfrm>
            <a:off x="3025862" y="3099407"/>
            <a:ext cx="446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</a:rPr>
              <a:t>Process logic and actions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A19B08-3CA7-79F8-9528-7497F83A311F}"/>
              </a:ext>
            </a:extLst>
          </p:cNvPr>
          <p:cNvSpPr txBox="1"/>
          <p:nvPr/>
        </p:nvSpPr>
        <p:spPr>
          <a:xfrm>
            <a:off x="3025862" y="4287480"/>
            <a:ext cx="446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</a:rPr>
              <a:t>Fetches or store data if needed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85DCF6-A355-5926-0EC2-EA59658C26C8}"/>
              </a:ext>
            </a:extLst>
          </p:cNvPr>
          <p:cNvSpPr txBox="1"/>
          <p:nvPr/>
        </p:nvSpPr>
        <p:spPr>
          <a:xfrm>
            <a:off x="3025862" y="5450443"/>
            <a:ext cx="446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</a:rPr>
              <a:t>Send data back to the client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4802D9-70DF-E709-ADEC-A3FAFDB11AE3}"/>
              </a:ext>
            </a:extLst>
          </p:cNvPr>
          <p:cNvSpPr txBox="1"/>
          <p:nvPr/>
        </p:nvSpPr>
        <p:spPr>
          <a:xfrm>
            <a:off x="3025862" y="1156949"/>
            <a:ext cx="7603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The process begins with the client (e.g., your web browser) sends a request to the server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D10931-BBBA-D857-570F-B40E97226C79}"/>
              </a:ext>
            </a:extLst>
          </p:cNvPr>
          <p:cNvSpPr txBox="1"/>
          <p:nvPr/>
        </p:nvSpPr>
        <p:spPr>
          <a:xfrm>
            <a:off x="3000515" y="2482713"/>
            <a:ext cx="670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Direct requests to the correct handler</a:t>
            </a:r>
          </a:p>
        </p:txBody>
      </p:sp>
    </p:spTree>
    <p:extLst>
      <p:ext uri="{BB962C8B-B14F-4D97-AF65-F5344CB8AC3E}">
        <p14:creationId xmlns:p14="http://schemas.microsoft.com/office/powerpoint/2010/main" val="3936578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72F4A-FE76-E76A-BDB9-754432C26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6138"/>
            <a:ext cx="10515600" cy="1325563"/>
          </a:xfrm>
        </p:spPr>
        <p:txBody>
          <a:bodyPr/>
          <a:lstStyle/>
          <a:p>
            <a:r>
              <a:rPr lang="en-IN" dirty="0"/>
              <a:t>Technologies Involved (BACKEND)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EF1A38-7C1B-23AE-7BB5-A0526A235ED1}"/>
              </a:ext>
            </a:extLst>
          </p:cNvPr>
          <p:cNvCxnSpPr>
            <a:cxnSpLocks/>
          </p:cNvCxnSpPr>
          <p:nvPr/>
        </p:nvCxnSpPr>
        <p:spPr>
          <a:xfrm>
            <a:off x="125128" y="924025"/>
            <a:ext cx="744032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F98CC7-5B14-EE26-AEF6-39696DEE6EF0}"/>
              </a:ext>
            </a:extLst>
          </p:cNvPr>
          <p:cNvSpPr/>
          <p:nvPr/>
        </p:nvSpPr>
        <p:spPr>
          <a:xfrm>
            <a:off x="413887" y="1074447"/>
            <a:ext cx="3031958" cy="378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PROGRAMMING LANGUAGES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74B019B8-8AFC-EA9B-3A76-7942FC8A3D83}"/>
              </a:ext>
            </a:extLst>
          </p:cNvPr>
          <p:cNvSpPr/>
          <p:nvPr/>
        </p:nvSpPr>
        <p:spPr>
          <a:xfrm>
            <a:off x="779647" y="1761423"/>
            <a:ext cx="86627" cy="77002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963D7-E68A-D2AA-EE0C-D5C005001EAF}"/>
              </a:ext>
            </a:extLst>
          </p:cNvPr>
          <p:cNvSpPr txBox="1"/>
          <p:nvPr/>
        </p:nvSpPr>
        <p:spPr>
          <a:xfrm>
            <a:off x="1022685" y="1594857"/>
            <a:ext cx="5503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highlight>
                  <a:srgbClr val="C0C0C0"/>
                </a:highlight>
              </a:rPr>
              <a:t>JavaScript</a:t>
            </a:r>
            <a:r>
              <a:rPr lang="en-IN" sz="2000" dirty="0"/>
              <a:t> (</a:t>
            </a:r>
            <a:r>
              <a:rPr lang="en-IN" sz="2000" dirty="0">
                <a:highlight>
                  <a:srgbClr val="00FF00"/>
                </a:highlight>
              </a:rPr>
              <a:t>Node.js</a:t>
            </a:r>
            <a:r>
              <a:rPr lang="en-IN" sz="2000" dirty="0"/>
              <a:t> with framework like </a:t>
            </a:r>
            <a:r>
              <a:rPr lang="en-IN" sz="2000" dirty="0">
                <a:highlight>
                  <a:srgbClr val="00FF00"/>
                </a:highlight>
              </a:rPr>
              <a:t>Express.js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41656D91-6765-31EC-A651-65A755FCED11}"/>
              </a:ext>
            </a:extLst>
          </p:cNvPr>
          <p:cNvSpPr/>
          <p:nvPr/>
        </p:nvSpPr>
        <p:spPr>
          <a:xfrm>
            <a:off x="779645" y="2718836"/>
            <a:ext cx="86627" cy="77002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F7A300-620B-FF30-FE90-5577E95DEE17}"/>
              </a:ext>
            </a:extLst>
          </p:cNvPr>
          <p:cNvSpPr txBox="1"/>
          <p:nvPr/>
        </p:nvSpPr>
        <p:spPr>
          <a:xfrm>
            <a:off x="1022685" y="2518781"/>
            <a:ext cx="107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highlight>
                  <a:srgbClr val="C0C0C0"/>
                </a:highlight>
              </a:rPr>
              <a:t>Apache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1B27E9-8A6F-60F0-51A4-C24E5EB1F800}"/>
              </a:ext>
            </a:extLst>
          </p:cNvPr>
          <p:cNvSpPr/>
          <p:nvPr/>
        </p:nvSpPr>
        <p:spPr>
          <a:xfrm>
            <a:off x="413887" y="2035726"/>
            <a:ext cx="1559292" cy="378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WEB SERVER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D72F48-4345-DF73-4E3B-6EBC8FACBBF5}"/>
              </a:ext>
            </a:extLst>
          </p:cNvPr>
          <p:cNvSpPr/>
          <p:nvPr/>
        </p:nvSpPr>
        <p:spPr>
          <a:xfrm>
            <a:off x="413887" y="2987612"/>
            <a:ext cx="1559292" cy="378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DATABASE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AE4D5892-DE05-844F-BD0F-147D19A0DF71}"/>
              </a:ext>
            </a:extLst>
          </p:cNvPr>
          <p:cNvSpPr/>
          <p:nvPr/>
        </p:nvSpPr>
        <p:spPr>
          <a:xfrm>
            <a:off x="779647" y="3666327"/>
            <a:ext cx="86627" cy="77002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3C103D-E5C8-7196-300A-A0C17F30B9B8}"/>
              </a:ext>
            </a:extLst>
          </p:cNvPr>
          <p:cNvSpPr txBox="1"/>
          <p:nvPr/>
        </p:nvSpPr>
        <p:spPr>
          <a:xfrm>
            <a:off x="1022685" y="3520516"/>
            <a:ext cx="6542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highlight>
                  <a:srgbClr val="C0C0C0"/>
                </a:highlight>
              </a:rPr>
              <a:t>MySQL</a:t>
            </a:r>
            <a:r>
              <a:rPr lang="en-IN" sz="2000" dirty="0"/>
              <a:t> (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Structured data storage with tables and relations)</a:t>
            </a: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</a:t>
            </a:r>
            <a:endParaRPr lang="en-IN" sz="2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AC61047-BCA1-38E7-B7BC-A0E0C70EEFAA}"/>
              </a:ext>
            </a:extLst>
          </p:cNvPr>
          <p:cNvSpPr/>
          <p:nvPr/>
        </p:nvSpPr>
        <p:spPr>
          <a:xfrm>
            <a:off x="413887" y="4851349"/>
            <a:ext cx="1559292" cy="378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API Paradigms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582C2AE7-0403-82D0-CEA3-7EBC3CD90CD0}"/>
              </a:ext>
            </a:extLst>
          </p:cNvPr>
          <p:cNvSpPr/>
          <p:nvPr/>
        </p:nvSpPr>
        <p:spPr>
          <a:xfrm>
            <a:off x="779646" y="5395635"/>
            <a:ext cx="86627" cy="77002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8ED03D-0C40-B371-EF7E-28D7C265A3A4}"/>
              </a:ext>
            </a:extLst>
          </p:cNvPr>
          <p:cNvSpPr txBox="1"/>
          <p:nvPr/>
        </p:nvSpPr>
        <p:spPr>
          <a:xfrm>
            <a:off x="1022685" y="5234081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highlight>
                  <a:srgbClr val="C0C0C0"/>
                </a:highlight>
              </a:rPr>
              <a:t>REST</a:t>
            </a:r>
            <a:r>
              <a:rPr lang="en-IN" sz="2000" dirty="0"/>
              <a:t> (Representational State Transfer)</a:t>
            </a: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E444A48F-15A8-8823-EB89-8D8AD95A2B52}"/>
              </a:ext>
            </a:extLst>
          </p:cNvPr>
          <p:cNvSpPr/>
          <p:nvPr/>
        </p:nvSpPr>
        <p:spPr>
          <a:xfrm>
            <a:off x="1102943" y="3868647"/>
            <a:ext cx="5803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MongoDB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(NoSQL database storing flexible document data)</a:t>
            </a:r>
            <a:endParaRPr 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A242CA5-67AB-AC3F-CFB8-9AB170C13063}"/>
              </a:ext>
            </a:extLst>
          </p:cNvPr>
          <p:cNvSpPr/>
          <p:nvPr/>
        </p:nvSpPr>
        <p:spPr>
          <a:xfrm>
            <a:off x="413887" y="5690800"/>
            <a:ext cx="2136806" cy="378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CLOUD PLATFORM</a:t>
            </a: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0B73E290-0232-E7A9-783C-3E0548A2E615}"/>
              </a:ext>
            </a:extLst>
          </p:cNvPr>
          <p:cNvSpPr/>
          <p:nvPr/>
        </p:nvSpPr>
        <p:spPr>
          <a:xfrm>
            <a:off x="779646" y="6322811"/>
            <a:ext cx="86627" cy="77002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A1BFC3-9CDC-4070-C5A8-9208ED3E17D3}"/>
              </a:ext>
            </a:extLst>
          </p:cNvPr>
          <p:cNvSpPr txBox="1"/>
          <p:nvPr/>
        </p:nvSpPr>
        <p:spPr>
          <a:xfrm>
            <a:off x="1022687" y="6187809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highlight>
                  <a:srgbClr val="C0C0C0"/>
                </a:highlight>
              </a:rPr>
              <a:t>Google Cloud Platform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D533A4-7A46-A29A-8D1D-0EFFD3ADE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7088" y="1594857"/>
            <a:ext cx="519467" cy="4902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61E36FD-6EEB-6AA4-83CC-7F5616738E0D}"/>
              </a:ext>
            </a:extLst>
          </p:cNvPr>
          <p:cNvSpPr/>
          <p:nvPr/>
        </p:nvSpPr>
        <p:spPr>
          <a:xfrm>
            <a:off x="9689180" y="3689860"/>
            <a:ext cx="1652840" cy="530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CODE EDITOR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60AFD4-8C72-B613-0B8B-05CEBEB31F23}"/>
              </a:ext>
            </a:extLst>
          </p:cNvPr>
          <p:cNvSpPr txBox="1"/>
          <p:nvPr/>
        </p:nvSpPr>
        <p:spPr>
          <a:xfrm>
            <a:off x="9940358" y="4341581"/>
            <a:ext cx="1245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VS Code</a:t>
            </a:r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5C296202-1AB1-44E6-CAE3-63812786C90B}"/>
              </a:ext>
            </a:extLst>
          </p:cNvPr>
          <p:cNvSpPr/>
          <p:nvPr/>
        </p:nvSpPr>
        <p:spPr>
          <a:xfrm>
            <a:off x="1560497" y="4474244"/>
            <a:ext cx="86627" cy="77002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6AA552-0A95-4252-C6A9-7FFE73FA43B9}"/>
              </a:ext>
            </a:extLst>
          </p:cNvPr>
          <p:cNvSpPr txBox="1"/>
          <p:nvPr/>
        </p:nvSpPr>
        <p:spPr>
          <a:xfrm>
            <a:off x="1789449" y="4341013"/>
            <a:ext cx="54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C0C0C0"/>
                </a:highlight>
              </a:rPr>
              <a:t>CSV File </a:t>
            </a:r>
            <a:r>
              <a:rPr lang="en-IN" dirty="0"/>
              <a:t>(Used as container to store data)</a:t>
            </a:r>
          </a:p>
        </p:txBody>
      </p:sp>
    </p:spTree>
    <p:extLst>
      <p:ext uri="{BB962C8B-B14F-4D97-AF65-F5344CB8AC3E}">
        <p14:creationId xmlns:p14="http://schemas.microsoft.com/office/powerpoint/2010/main" val="1529285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B27E9-88CE-E4AC-99E4-6BC29DBC5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82" y="-173255"/>
            <a:ext cx="10515600" cy="1325563"/>
          </a:xfrm>
        </p:spPr>
        <p:txBody>
          <a:bodyPr/>
          <a:lstStyle/>
          <a:p>
            <a:r>
              <a:rPr lang="en-IN" dirty="0"/>
              <a:t>KEY TAKEAWAYS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9A0C7C2-1AD3-999E-241D-8A4E2EF480AB}"/>
              </a:ext>
            </a:extLst>
          </p:cNvPr>
          <p:cNvCxnSpPr/>
          <p:nvPr/>
        </p:nvCxnSpPr>
        <p:spPr>
          <a:xfrm>
            <a:off x="413886" y="904775"/>
            <a:ext cx="344584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F0650EA7-68B0-DC5F-8365-42C30D4CEC6F}"/>
              </a:ext>
            </a:extLst>
          </p:cNvPr>
          <p:cNvSpPr/>
          <p:nvPr/>
        </p:nvSpPr>
        <p:spPr>
          <a:xfrm>
            <a:off x="413886" y="1443790"/>
            <a:ext cx="356135" cy="471638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1A7FAD5A-B1DB-F37B-22C1-D23132D3F468}"/>
              </a:ext>
            </a:extLst>
          </p:cNvPr>
          <p:cNvSpPr/>
          <p:nvPr/>
        </p:nvSpPr>
        <p:spPr>
          <a:xfrm>
            <a:off x="409070" y="2836729"/>
            <a:ext cx="356135" cy="471638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FDA8D5BE-431C-4566-7468-68C71E1A35C1}"/>
              </a:ext>
            </a:extLst>
          </p:cNvPr>
          <p:cNvSpPr/>
          <p:nvPr/>
        </p:nvSpPr>
        <p:spPr>
          <a:xfrm>
            <a:off x="409070" y="4277067"/>
            <a:ext cx="356135" cy="471638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9B9258AA-BD71-F936-1204-8A5BE33AF2F6}"/>
              </a:ext>
            </a:extLst>
          </p:cNvPr>
          <p:cNvSpPr/>
          <p:nvPr/>
        </p:nvSpPr>
        <p:spPr>
          <a:xfrm>
            <a:off x="409071" y="5717406"/>
            <a:ext cx="356135" cy="471638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4E29F5-F1F7-69B9-1D94-167A09B26465}"/>
              </a:ext>
            </a:extLst>
          </p:cNvPr>
          <p:cNvSpPr txBox="1"/>
          <p:nvPr/>
        </p:nvSpPr>
        <p:spPr>
          <a:xfrm>
            <a:off x="981777" y="1477131"/>
            <a:ext cx="6314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Backend handles client requests and responses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34861B-3EFB-6803-5FAF-F68785FD4364}"/>
              </a:ext>
            </a:extLst>
          </p:cNvPr>
          <p:cNvSpPr txBox="1"/>
          <p:nvPr/>
        </p:nvSpPr>
        <p:spPr>
          <a:xfrm>
            <a:off x="981777" y="2856314"/>
            <a:ext cx="7220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Routing and Controllers manage request flow and logic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E8C837-075A-F62F-DA9A-AE7513B91047}"/>
              </a:ext>
            </a:extLst>
          </p:cNvPr>
          <p:cNvSpPr txBox="1"/>
          <p:nvPr/>
        </p:nvSpPr>
        <p:spPr>
          <a:xfrm>
            <a:off x="981777" y="4287040"/>
            <a:ext cx="5736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Database store and retrieve application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1AFCC0-FF85-D53A-5ED7-BDAAC47A45F1}"/>
              </a:ext>
            </a:extLst>
          </p:cNvPr>
          <p:cNvSpPr txBox="1"/>
          <p:nvPr/>
        </p:nvSpPr>
        <p:spPr>
          <a:xfrm>
            <a:off x="981776" y="5717406"/>
            <a:ext cx="7220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API enable communication between client and backend</a:t>
            </a:r>
          </a:p>
        </p:txBody>
      </p:sp>
    </p:spTree>
    <p:extLst>
      <p:ext uri="{BB962C8B-B14F-4D97-AF65-F5344CB8AC3E}">
        <p14:creationId xmlns:p14="http://schemas.microsoft.com/office/powerpoint/2010/main" val="3301947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1DC838-1421-E7EC-F2BD-6AC0890FB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91" y="2145681"/>
            <a:ext cx="6925656" cy="25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32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3425</TotalTime>
  <Words>343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Algerian</vt:lpstr>
      <vt:lpstr>Arial</vt:lpstr>
      <vt:lpstr>Arial Narrow</vt:lpstr>
      <vt:lpstr>Arial Rounded MT Bold</vt:lpstr>
      <vt:lpstr>Calibri</vt:lpstr>
      <vt:lpstr>Calibri Light</vt:lpstr>
      <vt:lpstr>Cascadia Code</vt:lpstr>
      <vt:lpstr>Castellar</vt:lpstr>
      <vt:lpstr>Merriweather</vt:lpstr>
      <vt:lpstr>Office Theme</vt:lpstr>
      <vt:lpstr>PowerPoint Presentation</vt:lpstr>
      <vt:lpstr>TOOLS &amp; SOFTWARE </vt:lpstr>
      <vt:lpstr>PowerPoint Presentation</vt:lpstr>
      <vt:lpstr>BACKEND OVERVIEW</vt:lpstr>
      <vt:lpstr>Technologies Involved (BACKEND)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JHA</dc:creator>
  <cp:lastModifiedBy>GAURAV JHA</cp:lastModifiedBy>
  <cp:revision>1</cp:revision>
  <dcterms:created xsi:type="dcterms:W3CDTF">2025-05-18T09:22:51Z</dcterms:created>
  <dcterms:modified xsi:type="dcterms:W3CDTF">2025-05-20T18:28:51Z</dcterms:modified>
</cp:coreProperties>
</file>